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23"/>
    <p:sldId id="273" r:id="rId24"/>
    <p:sldId id="274" r:id="rId25"/>
    <p:sldId id="275" r:id="rId26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E8873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6675120" cy="13716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A"/>
                </a:solidFill>
              </a:rPr>
              <a:t>POC 클리닉 발표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알라딘의</a:t>
            </a:r>
            <a:endParaRPr lang="en-US" sz="4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리브랜딩 필요성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CC"/>
                </a:solidFill>
              </a:rPr>
              <a:t>장서윤 (시장분석)  |  유민성 (가치분석)  |  윤석현 (수치분석)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873A"/>
                </a:solidFill>
              </a:rPr>
              <a:t>"지니는 요술램프 밖으로 나와야 한다"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050"/>
                </a:solidFill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2D7B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7BB6"/>
                </a:solidFill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2984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050"/>
                </a:solidFill>
              </a:rPr>
              <a:t>시장 분석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온라인 서점 시장 현황 · 거시 트렌드 · C2C 위협 분석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92040" y="109728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873A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74920" y="12344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3A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2984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050"/>
                </a:solidFill>
              </a:rPr>
              <a:t>가치 분석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373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브랜드 이념 vs 실제 경험 · UI/UX 문제 · 앱 리뷰 근거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35808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17296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3697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050"/>
                </a:solidFill>
              </a:rPr>
              <a:t>수치 분석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758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재무 현황 · 경쟁사 비교(YES24) · 인재 딜레마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3035808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9B59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74920" y="317296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59B6"/>
                </a:solidFill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23697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050"/>
                </a:solidFill>
              </a:rPr>
              <a:t>리브랜딩 방향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6758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Why / What / How · 차별화 전략 · 결론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05840" cy="246888"/>
          </a:xfrm>
          <a:prstGeom prst="roundRect">
            <a:avLst>
              <a:gd name="adj" fmla="val 29630"/>
            </a:avLst>
          </a:prstGeom>
          <a:solidFill>
            <a:srgbClr val="1A30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기업 소개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(주)알라딘커뮤니케이션 현황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6개 출처 종합 분석 결과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050"/>
                </a:solidFill>
              </a:rPr>
              <a:t>1998년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설립 / 업력 약 29년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51176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42616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3A"/>
                </a:solidFill>
              </a:rPr>
              <a:t>4,291억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42616" y="2176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2025년 매출 (YoY -5.8%)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9432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90872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34F"/>
                </a:solidFill>
              </a:rPr>
              <a:t>1.7%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2176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영업이익률 (72억 원)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47688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39128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7BB6"/>
                </a:solidFill>
              </a:rPr>
              <a:t>968명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739128" y="21762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임직원 수 (국민연금 기준)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0"/>
                </a:solidFill>
              </a:rPr>
              <a:t>주요 사업 영역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40156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050"/>
                </a:solidFill>
              </a:rPr>
              <a:t>전자상거래업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51176" y="340156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596896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050"/>
                </a:solidFill>
              </a:rPr>
              <a:t>통신판매업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99432" y="340156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645152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050"/>
                </a:solidFill>
              </a:rPr>
              <a:t>인터넷 서비스업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7688" y="340156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693408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050"/>
                </a:solidFill>
              </a:rPr>
              <a:t>중고상품소매업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995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68"/>
                </a:solidFill>
              </a:rPr>
              <a:t>재고자산 구성 (2025) — 도서 편중 82.3%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343400"/>
            <a:ext cx="6772961" cy="36576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7275881" y="4343400"/>
            <a:ext cx="559613" cy="365760"/>
          </a:xfrm>
          <a:prstGeom prst="rect">
            <a:avLst/>
          </a:prstGeom>
          <a:solidFill>
            <a:srgbClr val="2D7BB6"/>
          </a:solidFill>
          <a:ln/>
        </p:spPr>
      </p:sp>
      <p:sp>
        <p:nvSpPr>
          <p:cNvPr id="30" name="Shape 28"/>
          <p:cNvSpPr/>
          <p:nvPr/>
        </p:nvSpPr>
        <p:spPr>
          <a:xfrm>
            <a:off x="7835494" y="4343400"/>
            <a:ext cx="551383" cy="36576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31" name="Shape 29"/>
          <p:cNvSpPr/>
          <p:nvPr/>
        </p:nvSpPr>
        <p:spPr>
          <a:xfrm>
            <a:off x="8386877" y="4343400"/>
            <a:ext cx="337414" cy="3657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2920" y="4791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도서 82.3%  |  음반/DVD 6.8%  |  굿즈 6.7%  |  저장품 4.1%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2D7BB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시장 분석 01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온라인 서점 시장 내 알라딘의 위치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2024년 실적 기준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BB6"/>
                </a:solidFill>
              </a:rPr>
              <a:t>1위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64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050"/>
                </a:solidFill>
              </a:rPr>
              <a:t>예스24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645920"/>
            <a:ext cx="4790846" cy="393192"/>
          </a:xfrm>
          <a:prstGeom prst="roundRect">
            <a:avLst>
              <a:gd name="adj" fmla="val 9302"/>
            </a:avLst>
          </a:prstGeom>
          <a:solidFill>
            <a:srgbClr val="2D7B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4006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27.1%  /  6,850억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603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</a:rPr>
              <a:t>2위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60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050"/>
                </a:solidFill>
              </a:rPr>
              <a:t>교보문고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31720" y="2542032"/>
            <a:ext cx="4419600" cy="393192"/>
          </a:xfrm>
          <a:prstGeom prst="roundRect">
            <a:avLst>
              <a:gd name="adj" fmla="val 9302"/>
            </a:avLst>
          </a:prstGeom>
          <a:solidFill>
            <a:srgbClr val="7F8C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42760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25%  /  6,320억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456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3A"/>
                </a:solidFill>
              </a:rPr>
              <a:t>3위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56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050"/>
                </a:solidFill>
              </a:rPr>
              <a:t>알라딘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31720" y="3438144"/>
            <a:ext cx="2775509" cy="393192"/>
          </a:xfrm>
          <a:prstGeom prst="roundRect">
            <a:avLst>
              <a:gd name="adj" fmla="val 9302"/>
            </a:avLst>
          </a:prstGeom>
          <a:solidFill>
            <a:srgbClr val="E88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98669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A"/>
                </a:solidFill>
              </a:rPr>
              <a:t>15.7%  /  3,980억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40740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EF3E8"/>
          </a:solidFill>
          <a:ln w="6350">
            <a:solidFill>
              <a:srgbClr val="E8873A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" y="4498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🏆  중고 도서 시장: B2C 온·오프라인 압도적 1위 — 전국 59개 오프라인 중고매장 운영 (2026 현재)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2D7BB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시장 분석 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거시 트렌드 &amp; 기회 — 2030을 잡아야 할 이유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사회 이슈 분석 (장서윤)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816352" cy="340156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6350">
            <a:solidFill>
              <a:srgbClr val="2D7B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664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BB6"/>
                </a:solidFill>
              </a:rPr>
              <a:t>📚  텍스트힙 (Text-Hip)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050"/>
                </a:solidFill>
              </a:rPr>
              <a:t>19~29세 독서율 75.3%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237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</a:rPr>
              <a:t>전 연령대 중 유일한 상승세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7121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성인 종합독서율은 역대 최저(38.5%)인 반면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467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20대는 75.3%로 오히려 0.8%p 상승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22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전자책 독서율 59.4% &gt; 종이책 45.1%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1554480"/>
            <a:ext cx="2816352" cy="340156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84448" y="1664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💰  고물가 실속 소비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20848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050"/>
                </a:solidFill>
              </a:rPr>
              <a:t>중고 거래 관심 급증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84448" y="25237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</a:rPr>
              <a:t>도서 정가제 → 새 책 부담 증가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287121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고물가 속 합리적 소비 니즈 급증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33467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중고 선순환 체계 = 알라딘 핵심 자산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3822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가성비 + 가심(心)비 동시 충족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0216" y="1554480"/>
            <a:ext cx="2816352" cy="3401568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6350">
            <a:solidFill>
              <a:srgbClr val="E8873A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83096" y="1664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A"/>
                </a:solidFill>
              </a:rPr>
              <a:t>🏪  공간 비즈니스 부상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83096" y="208483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050"/>
                </a:solidFill>
              </a:rPr>
              <a:t>팝업스토어 352.9%↑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25237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</a:rPr>
              <a:t>문구·도서·음반 (상반기 77건)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287121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경험·공유 공간으로서 오프라인 가치 상승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83096" y="33467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팝업 등 브랜드 접점 다각화 기회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83096" y="38221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알라딘 매장 = 독서 문화 공간 잠재력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2D7BB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시장 분석 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왜 지금 리브랜딩인가? — C2C 위협과 2030 이탈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4023360" cy="3401568"/>
          </a:xfrm>
          <a:prstGeom prst="roundRect">
            <a:avLst>
              <a:gd name="adj" fmla="val 2688"/>
            </a:avLst>
          </a:prstGeom>
          <a:solidFill>
            <a:srgbClr val="FEF2F2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</a:rPr>
              <a:t>⚠️ C2C 중고 플랫폼의 위협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당근마켓 MAU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34F"/>
                </a:solidFill>
              </a:rPr>
              <a:t>1,900만 명 돌파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821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· 배송비 없는 지역 기반 직거래로 2030 이탈 증가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· 알라딘의 핵심 유저 MZ세대가 주요 이탈 대상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13308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· 중고 거래 방식의 플랫폼 간 경쟁 심화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36192"/>
            <a:ext cx="4023360" cy="3401568"/>
          </a:xfrm>
          <a:prstGeom prst="roundRect">
            <a:avLst>
              <a:gd name="adj" fmla="val 2688"/>
            </a:avLst>
          </a:prstGeom>
          <a:solidFill>
            <a:srgbClr val="EFF6FF"/>
          </a:solidFill>
          <a:ln w="6350">
            <a:solidFill>
              <a:srgbClr val="2D7B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9204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BB6"/>
                </a:solidFill>
              </a:rPr>
              <a:t>🎯 2030을 잡기 위해 바꿔야 할 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올드한 브랜드 이미지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4963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2000년대 후반 UI/UX — 시각적 매력도 저하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→ 토스·무신사에 익숙한 세대에게 높은 진입 장벽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복잡한 정보 구조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4290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메인 화면의 수십 개 탭과 과도한 텍스트 밀도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→ 높은 이탈률과 신규 유입 장애물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4041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무난한 중고서점 이미지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3616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책 = 경험·공유의 문화 매개체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→ '문화 경험 플랫폼'으로 재정의 필요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가치 분석 01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알라딘이 추구하는 브랜드 이념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"고객의 소원과 꿈을 이루어주는 요술램프 지니"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1A3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276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브랜드 유래: 요술램프의 요정 지니처럼  "고객의 소원과 꿈을 이루어주는 서비스"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2788920" cy="2761488"/>
          </a:xfrm>
          <a:prstGeom prst="roundRect">
            <a:avLst>
              <a:gd name="adj" fmla="val 3311"/>
            </a:avLst>
          </a:prstGeom>
          <a:solidFill>
            <a:srgbClr val="F0FBF4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" y="2286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📖 합리적 도서 소비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883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누구나 부담 없이 책을 읽고 팔 수 있는 환경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오프라인 중고매장 전국 확대 (59개)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493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최저가 보장 및 투명한 중고 매입 시스템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" y="4526280"/>
            <a:ext cx="2450592" cy="320040"/>
          </a:xfrm>
          <a:prstGeom prst="roundRect">
            <a:avLst>
              <a:gd name="adj" fmla="val 17143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4562856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매우 우수  ✓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01568" y="2176272"/>
            <a:ext cx="2788920" cy="2761488"/>
          </a:xfrm>
          <a:prstGeom prst="roundRect">
            <a:avLst>
              <a:gd name="adj" fmla="val 3311"/>
            </a:avLst>
          </a:prstGeom>
          <a:solidFill>
            <a:srgbClr val="EFF6FF"/>
          </a:solidFill>
          <a:ln w="6350">
            <a:solidFill>
              <a:srgbClr val="2D7B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66160" y="2286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🛍️ 책 읽는 즐거움 / 덕질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6883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단순 판매를 넘어선 독서 문화 공간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고품질 알라딘 굿즈 (독서대, 파우치 등)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493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유저 커뮤니티 '알라딘 서재' 운영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4526280"/>
            <a:ext cx="2450592" cy="320040"/>
          </a:xfrm>
          <a:prstGeom prst="roundRect">
            <a:avLst>
              <a:gd name="adj" fmla="val 17143"/>
            </a:avLst>
          </a:prstGeom>
          <a:solidFill>
            <a:srgbClr val="2D7B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66160" y="4562856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우수 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0216" y="2176272"/>
            <a:ext cx="2788920" cy="2761488"/>
          </a:xfrm>
          <a:prstGeom prst="roundRect">
            <a:avLst>
              <a:gd name="adj" fmla="val 3311"/>
            </a:avLst>
          </a:prstGeom>
          <a:solidFill>
            <a:srgbClr val="FEF2F2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64808" y="2286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📱 사용자 편의성 (UI/UX)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26883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고객이 원하는 책을 쉽고 빠르게 탐색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2000년대 스타일에 머문 웹 UI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3493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과도한 텍스트 밀도와 복잡한 탐색 동선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64808" y="4526280"/>
            <a:ext cx="2450592" cy="320040"/>
          </a:xfrm>
          <a:prstGeom prst="roundRect">
            <a:avLst>
              <a:gd name="adj" fmla="val 17143"/>
            </a:avLst>
          </a:prstGeom>
          <a:solidFill>
            <a:srgbClr val="D953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4562856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미흡 — 핵심 과제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가치 분석 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브랜드 이념 vs 실제 경험 불일치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Value-Experience Gap: 가치는 있지만 경험이 끊긴다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EFF6FF"/>
          </a:solidFill>
          <a:ln w="6350">
            <a:solidFill>
              <a:srgbClr val="2D7B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700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BB6"/>
                </a:solidFill>
              </a:rPr>
              <a:t>🎯 브랜드가 약속하는 것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12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 쉽고 빠른 도서 탐색 경험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 합리적인 중고 도서 구매 환경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 고객 편의를 최우선으로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782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 요술램프 지니처럼 소원 실현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27432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534F"/>
                </a:solidFill>
              </a:rPr>
              <a:t>≠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709160" y="1572768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FEF2F2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92040" y="1700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</a:rPr>
              <a:t>💥 실제 디지털 경험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212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✗  중고 탐색 최소 3단계 이상 화면 전환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✗  터치/버튼 반응 불능 (1점 비율 87%)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✗  장바구니 분리로 결제 직전 이탈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40782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✗  2000년대 고밀도 텍스트 UI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818888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1A30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83717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진단: 알라딘의 합리적 도서 소비라는 독보적 가치가, 복잡한 디지털 동선과 비직관적 UI로 인해 현장에서 스스로 훼손되고 있음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가치 분석 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UI/UX 3대 치명적 결함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세 가지 문제가 브랜드 가치를 가로막는다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66928" cy="987552"/>
          </a:xfrm>
          <a:prstGeom prst="roundRect">
            <a:avLst>
              <a:gd name="adj" fmla="val 1129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75564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481328"/>
            <a:ext cx="7589520" cy="987552"/>
          </a:xfrm>
          <a:prstGeom prst="roundRect">
            <a:avLst>
              <a:gd name="adj" fmla="val 9259"/>
            </a:avLst>
          </a:prstGeom>
          <a:solidFill>
            <a:srgbClr val="F3F6FA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371600" y="15544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0"/>
                </a:solidFill>
              </a:rPr>
              <a:t>파편화된 중고 탐색 동선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92024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[도서 검색 → 결과 선택 → 온라인중고 탭 → 중고 도서 재선택]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→ 최소 3단계 이상 불필요한 화면 전환 강제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60920" y="1709928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60920" y="1737360"/>
            <a:ext cx="13258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탐색 피로→경쟁사 이탈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642616"/>
            <a:ext cx="566928" cy="987552"/>
          </a:xfrm>
          <a:prstGeom prst="roundRect">
            <a:avLst>
              <a:gd name="adj" fmla="val 11290"/>
            </a:avLst>
          </a:prstGeom>
          <a:solidFill>
            <a:srgbClr val="D953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291693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2642616"/>
            <a:ext cx="7589520" cy="987552"/>
          </a:xfrm>
          <a:prstGeom prst="roundRect">
            <a:avLst>
              <a:gd name="adj" fmla="val 9259"/>
            </a:avLst>
          </a:prstGeom>
          <a:solidFill>
            <a:srgbClr val="F3F6FA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371600" y="271576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0"/>
                </a:solidFill>
              </a:rPr>
              <a:t>터치/버튼 인터랙션 응답 불능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08152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장바구니·지점 선택·결제 등 핵심 CTA 버튼 먹통 빈발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→ 전체 UI VOC 발생 빈도 1위 / 1점 평가 비율 87.0%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2871216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D953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60920" y="2898648"/>
            <a:ext cx="13258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최고 심각도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즉시 개선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803904"/>
            <a:ext cx="566928" cy="987552"/>
          </a:xfrm>
          <a:prstGeom prst="roundRect">
            <a:avLst>
              <a:gd name="adj" fmla="val 11290"/>
            </a:avLst>
          </a:prstGeom>
          <a:solidFill>
            <a:srgbClr val="E88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407822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88720" y="3803904"/>
            <a:ext cx="7589520" cy="987552"/>
          </a:xfrm>
          <a:prstGeom prst="roundRect">
            <a:avLst>
              <a:gd name="adj" fmla="val 9259"/>
            </a:avLst>
          </a:prstGeom>
          <a:solidFill>
            <a:srgbClr val="F3F6FA"/>
          </a:solidFill>
          <a:ln w="6350">
            <a:solidFill>
              <a:srgbClr val="E8873A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371600" y="387705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0"/>
                </a:solidFill>
              </a:rPr>
              <a:t>장바구니 &amp; 결제 Flow 단절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24281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지점별 중고 도서 장바구니 분리 저장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→ 결제 직전 단계에서 담긴 상품 증발, 유저 분노 극대화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4032504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E887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60920" y="4059936"/>
            <a:ext cx="13258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구매 전환율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직접 저하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E887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가치 분석 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앱 리뷰 데이터 기반 근거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구글 플레이 리뷰 500개 수집 · LLM 범주화 분석 (부정 리뷰 N=350)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520440" cy="3090672"/>
          </a:xfrm>
          <a:prstGeom prst="roundRect">
            <a:avLst>
              <a:gd name="adj" fmla="val 2959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부정 VOC 중 UI/UX 비중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8873A"/>
                </a:solidFill>
              </a:rPr>
              <a:t>31.7%</a:t>
            </a:r>
            <a:endParaRPr lang="en-US" sz="5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99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가 미흡한 UI/UX로 인한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편의성 저해로 분류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096"/>
                </a:solidFill>
              </a:rPr>
              <a:t>나머지 68.3%: 기타/성능 문제 (NON_UI_UX)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572768"/>
            <a:ext cx="4572000" cy="3090672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07408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UI/UX 세부 문제 분포 (N=111)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터치/버튼 반응 불가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2468880"/>
            <a:ext cx="3382891" cy="24688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45163" y="24688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46건 (41.4%)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2825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검색/동선 탐색 불편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3081528"/>
            <a:ext cx="2721021" cy="246888"/>
          </a:xfrm>
          <a:prstGeom prst="roundRect">
            <a:avLst>
              <a:gd name="adj" fmla="val 11111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3293" y="30815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37건 (33.3%)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407408" y="3438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장바구니/결제 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07408" y="3694176"/>
            <a:ext cx="1176658" cy="246888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38930" y="36941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</a:rPr>
              <a:t>16건 (14.4%)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407408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레이아웃/시인성 저하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07408" y="4306824"/>
            <a:ext cx="882493" cy="246888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44765" y="430682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</a:rPr>
              <a:t>12건 (10.8%)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773168"/>
            <a:ext cx="8275320" cy="274320"/>
          </a:xfrm>
          <a:prstGeom prst="roundRect">
            <a:avLst>
              <a:gd name="adj" fmla="val 16667"/>
            </a:avLst>
          </a:prstGeom>
          <a:solidFill>
            <a:srgbClr val="1A30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097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터치/버튼(87.0%)·검색/동선(86.5%) — 발생 빈도·심각도 모두 최상위 / 최우선 개선 과제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수치 분석 01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경쟁사 비교: YES24 vs 알라딘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YES24라는 거울을 통해 알라딘의 구조적 한계를 진단한다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155448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2D7B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40280" y="1591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YES24 (수평적 확장형)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887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591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알라딘 (수직적 심화형)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121408"/>
            <a:ext cx="18745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포지셔닝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029968"/>
            <a:ext cx="32918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2084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종합 문화콘텐츠 플랫폼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(도서+K-POP+티켓+웹툰)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029968"/>
            <a:ext cx="32918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06440" y="2084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선순환 독서 라이프스타일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(독서마니아+중고+굿즈팬덤)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2834640"/>
            <a:ext cx="18745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매출(2025)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2743200"/>
            <a:ext cx="3291840" cy="658368"/>
          </a:xfrm>
          <a:prstGeom prst="rect">
            <a:avLst/>
          </a:prstGeom>
          <a:solidFill>
            <a:srgbClr val="F3F6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77440" y="27980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6,264억원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전년比 -6.6%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743200"/>
            <a:ext cx="3291840" cy="658368"/>
          </a:xfrm>
          <a:prstGeom prst="rect">
            <a:avLst/>
          </a:prstGeom>
          <a:solidFill>
            <a:srgbClr val="F3F6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27980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4,291억원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전년比 -5.8%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4320" y="3547872"/>
            <a:ext cx="18745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UI/UX 문제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3456432"/>
            <a:ext cx="32918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3511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과도한 프로모션 배너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→ 상업적 노이즈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456432"/>
            <a:ext cx="3291840" cy="658368"/>
          </a:xfrm>
          <a:prstGeom prst="rect">
            <a:avLst/>
          </a:prstGeom>
          <a:solidFill>
            <a:srgbClr val="FEF2F2"/>
          </a:solidFill>
          <a:ln w="10160">
            <a:solidFill>
              <a:srgbClr val="D953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06440" y="3511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534F"/>
                </a:solidFill>
              </a:rPr>
              <a:t>파편화된 동선·정보 밀집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9534F"/>
                </a:solidFill>
              </a:rPr>
              <a:t>→ 구조적 단절  ⚠️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169664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1A30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74320" y="4261104"/>
            <a:ext cx="18745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차별화 포인트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4169664"/>
            <a:ext cx="3291840" cy="658368"/>
          </a:xfrm>
          <a:prstGeom prst="rect">
            <a:avLst/>
          </a:prstGeom>
          <a:solidFill>
            <a:srgbClr val="F3F6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77440" y="4224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대중문화 영역 확장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상업적 이벤트 밀집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4169664"/>
            <a:ext cx="3291840" cy="658368"/>
          </a:xfrm>
          <a:prstGeom prst="rect">
            <a:avLst/>
          </a:prstGeom>
          <a:solidFill>
            <a:srgbClr val="F3F6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06440" y="4224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책 본연 가치 집중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직관적 탐색·선순환 (목표)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8595360" cy="256032"/>
          </a:xfrm>
          <a:prstGeom prst="roundRect">
            <a:avLst>
              <a:gd name="adj" fmla="val 35714"/>
            </a:avLst>
          </a:prstGeom>
          <a:solidFill>
            <a:srgbClr val="FEF3E8"/>
          </a:solidFill>
          <a:ln w="6350">
            <a:solidFill>
              <a:srgbClr val="E8873A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5720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050"/>
                </a:solidFill>
              </a:rPr>
              <a:t>핵심 과제: YES24의 상업주의를 답습하지 말고, 복잡한 중고/새책 탐색 옵션을 직관적으로 가공하는 데 집중할 것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37844" cy="246888"/>
          </a:xfrm>
          <a:prstGeom prst="roundRect">
            <a:avLst>
              <a:gd name="adj" fmla="val 2963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0378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경쟁사 차별점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알라딘만의 대체 불가 자산 — YES24가 따라올 수 없는 영역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가치 분석 × 시장 분석 × 수치 분석 종합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" y="159105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중고 도서 선순환 생태계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743200" cy="1207008"/>
          </a:xfrm>
          <a:prstGeom prst="roundRect">
            <a:avLst>
              <a:gd name="adj" fmla="val 7576"/>
            </a:avLst>
          </a:prstGeom>
          <a:solidFill>
            <a:srgbClr val="F0FBF4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02920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알라딘 ✓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43230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온·오프라인 결합으로 '책 소비 부담 완화' 자체가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브랜드 정체성 — 독보적 진정성과 시장 주도권 보유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F8F8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2920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8096"/>
                </a:solidFill>
              </a:rPr>
              <a:t>YES24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71246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바이백 서비스 운영하나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프로모션·마일리지 보조 수단에 불과 (프로모션에 초점)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4572000"/>
            <a:ext cx="1719072" cy="27432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5994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알라딘 압도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55448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2D7B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28416" y="159105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Book-Core 독서 마니아 팬덤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2103120"/>
            <a:ext cx="2743200" cy="1207008"/>
          </a:xfrm>
          <a:prstGeom prst="roundRect">
            <a:avLst>
              <a:gd name="adj" fmla="val 7576"/>
            </a:avLst>
          </a:prstGeom>
          <a:solidFill>
            <a:srgbClr val="F0FBF4"/>
          </a:solidFill>
          <a:ln w="6350">
            <a:solidFill>
              <a:srgbClr val="2D7B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355848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BB6"/>
                </a:solidFill>
              </a:rPr>
              <a:t>알라딘 ✓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243230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TTT·북로그·고품질 굿즈로 '책을 읽고 수집하는 행위'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자체에 밀착 → 수직적 충성도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38328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F8F8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355848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8096"/>
                </a:solidFill>
              </a:rPr>
              <a:t>YES24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371246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K-POP 음반·공연·웹툰 등 대중문화 전반으로 확장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→ 팬덤이 '책'이 아닌 다른 곳으로 분산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21608" y="4572000"/>
            <a:ext cx="1719072" cy="274320"/>
          </a:xfrm>
          <a:prstGeom prst="roundRect">
            <a:avLst>
              <a:gd name="adj" fmla="val 20000"/>
            </a:avLst>
          </a:prstGeom>
          <a:solidFill>
            <a:srgbClr val="2D7B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21608" y="45994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알라딘 우위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71616" y="155448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E887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81344" y="159105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🏪  오프라인 중고 인프라 독점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71616" y="2103120"/>
            <a:ext cx="2743200" cy="1207008"/>
          </a:xfrm>
          <a:prstGeom prst="roundRect">
            <a:avLst>
              <a:gd name="adj" fmla="val 7576"/>
            </a:avLst>
          </a:prstGeom>
          <a:solidFill>
            <a:srgbClr val="F0FBF4"/>
          </a:solidFill>
          <a:ln w="6350">
            <a:solidFill>
              <a:srgbClr val="E8873A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208776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73A"/>
                </a:solidFill>
              </a:rPr>
              <a:t>알라딘 ✓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208776" y="2432304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전국 59개 오프라인 중고매장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B2C 중고 온·오프라인 압도적 1위 (2026 현재)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338328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F8F8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208776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8096"/>
                </a:solidFill>
              </a:rPr>
              <a:t>YES24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08776" y="371246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오프라인 매장 소수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(주력은 온라인 커머스·ENT 중심)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74536" y="4572000"/>
            <a:ext cx="1719072" cy="274320"/>
          </a:xfrm>
          <a:prstGeom prst="roundRect">
            <a:avLst>
              <a:gd name="adj" fmla="val 20000"/>
            </a:avLst>
          </a:prstGeom>
          <a:solidFill>
            <a:srgbClr val="E887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74536" y="45994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알라딘 독점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919472"/>
            <a:ext cx="8412480" cy="164592"/>
          </a:xfrm>
          <a:prstGeom prst="roundRect">
            <a:avLst>
              <a:gd name="adj" fmla="val 27778"/>
            </a:avLst>
          </a:prstGeom>
          <a:solidFill>
            <a:srgbClr val="1A305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2920" y="493776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이 세 자산이 직관적인 UI/UX로 연결될 때, 알라딘은 YES24가 흉내낼 수 없는 '독서 생태계 플랫폼'으로 도약한다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수치 분석 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재무 현황 — 고비용 저효율 구조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영업이익률 1.7% / 오프라인 인프라가 수익성을 갉아먹는다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873A"/>
                </a:solidFill>
              </a:rPr>
              <a:t>4,291억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214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2025년 매출 (YoY -5.8%)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51176" y="1536192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42616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534F"/>
                </a:solidFill>
              </a:rPr>
              <a:t>1.7%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2642616" y="21214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영업이익률 (72억 원)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9432" y="1536192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90872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</a:rPr>
              <a:t>상위 10%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21214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동종업계 매출 순위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47688" y="1536192"/>
            <a:ext cx="1920240" cy="1261872"/>
          </a:xfrm>
          <a:prstGeom prst="roundRect">
            <a:avLst>
              <a:gd name="adj" fmla="val 7246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39128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7BB6"/>
                </a:solidFill>
              </a:rPr>
              <a:t>59개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739128" y="21214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오프라인 중고매장 (전국)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050"/>
                </a:solidFill>
              </a:rPr>
              <a:t>구조적 문제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364992"/>
            <a:ext cx="827532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340156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0"/>
                </a:solidFill>
              </a:rPr>
              <a:t>1. 종이책 편중 (재고자산 82.3%)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62102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전통 종이책 유통에 극도로 편중 — 고마진 디지털 자산 부재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895344"/>
            <a:ext cx="827532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393192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0"/>
                </a:solidFill>
              </a:rPr>
              <a:t>2. 오프라인 매장 고비용 구조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151376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임대료·유지보수·물류비 과중 → 영업이익률 1.7%에 불과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425696"/>
            <a:ext cx="827532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5800" y="446227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0"/>
                </a:solidFill>
              </a:rPr>
              <a:t>3. 고마진 사업 부재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6817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예스24 ENT 부문은 매출 6.7%에서 총이익 23.9% 창출 — 알라딘엔 이런 사업이 없음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33856" cy="246888"/>
          </a:xfrm>
          <a:prstGeom prst="roundRect">
            <a:avLst>
              <a:gd name="adj" fmla="val 2963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수치 분석 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인재 딜레마 — IT를 꿈꾸지만 인재는 떠난다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"밑 빠진 독에 물 붓기식 인재 유출" — 알라딘의 디지털 피봇을 가로막는 구조적 문제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69080" cy="3310128"/>
          </a:xfrm>
          <a:prstGeom prst="roundRect">
            <a:avLst>
              <a:gd name="adj" fmla="val 2762"/>
            </a:avLst>
          </a:prstGeom>
          <a:solidFill>
            <a:srgbClr val="F3F6FA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인력 현황 비교 (알라딘 vs YES24)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</a:rPr>
              <a:t>구분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873A"/>
                </a:solidFill>
              </a:rPr>
              <a:t>알라딘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BB6"/>
                </a:solidFill>
              </a:rPr>
              <a:t>YES24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3749040" cy="4114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423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퇴사율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34F"/>
                </a:solidFill>
              </a:rPr>
              <a:t>28.12% ▲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423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7BB6"/>
                </a:solidFill>
              </a:rPr>
              <a:t>22.95%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880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입사율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22.51%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880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7BB6"/>
                </a:solidFill>
              </a:rPr>
              <a:t>16.84%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310128"/>
            <a:ext cx="3749040" cy="4114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337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신입 연봉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34F"/>
                </a:solidFill>
              </a:rPr>
              <a:t>3,000만 미만 ⚠️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337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7BB6"/>
                </a:solidFill>
              </a:rPr>
              <a:t>3~5,000만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94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임직원 수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3794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968명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7BB6"/>
                </a:solidFill>
              </a:rPr>
              <a:t>466명(직원)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251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평균 근속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20240" y="4251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(미공개)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4251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7BB6"/>
                </a:solidFill>
              </a:rPr>
              <a:t>7년 2개월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536192"/>
            <a:ext cx="4069080" cy="3310128"/>
          </a:xfrm>
          <a:prstGeom prst="roundRect">
            <a:avLst>
              <a:gd name="adj" fmla="val 2762"/>
            </a:avLst>
          </a:prstGeom>
          <a:solidFill>
            <a:srgbClr val="FEF2F2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937760" y="16642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050"/>
                </a:solidFill>
              </a:rPr>
              <a:t>채용 직무 1순위: IT개발·데이터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050"/>
                </a:solidFill>
              </a:rPr>
              <a:t>신입 평균 연봉: 3,000만원 미만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3774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534F"/>
                </a:solidFill>
              </a:rPr>
              <a:t>모순</a:t>
            </a:r>
            <a:endParaRPr lang="en-US" sz="38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3108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· 경력직 IT 개발자 채용 → 업계 최저 수준 처우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35844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· 연간 퇴사자 291명 — 전 임직원의 30%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0599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· 입퇴사자 합산 524명 — 전체 인원의 절반 이상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4535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· IT 인재의 '임시 정거장'으로 전락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037844" cy="246888"/>
          </a:xfrm>
          <a:prstGeom prst="roundRect">
            <a:avLst>
              <a:gd name="adj" fmla="val 29630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9184"/>
            <a:ext cx="10378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리브랜딩 전략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050"/>
                </a:solidFill>
              </a:rPr>
              <a:t>리브랜딩 방향 — Why / What / How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'중고서점'에서 'Book-Core 독서 라이프스타일 플랫폼'으로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788920" cy="475488"/>
          </a:xfrm>
          <a:prstGeom prst="roundRect">
            <a:avLst>
              <a:gd name="adj" fmla="val 13462"/>
            </a:avLst>
          </a:prstGeom>
          <a:solidFill>
            <a:srgbClr val="D953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60934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2788920" cy="2852928"/>
          </a:xfrm>
          <a:prstGeom prst="roundRect">
            <a:avLst>
              <a:gd name="adj" fmla="val 3279"/>
            </a:avLst>
          </a:prstGeom>
          <a:solidFill>
            <a:srgbClr val="F3F6FA"/>
          </a:solidFill>
          <a:ln w="6350">
            <a:solidFill>
              <a:srgbClr val="D9534F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왜 지금 리브랜딩인가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51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브랜드 이념 vs 실제 경험의 거대한 불일치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'저렴한 중고책 상점' 인지도 고착화 (Perception Trap)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4114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모바일 네이티브 세대의 이탈 방지 시급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01568" y="1572768"/>
            <a:ext cx="2788920" cy="475488"/>
          </a:xfrm>
          <a:prstGeom prst="roundRect">
            <a:avLst>
              <a:gd name="adj" fmla="val 13462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01568" y="160934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01568" y="2084832"/>
            <a:ext cx="2788920" cy="2852928"/>
          </a:xfrm>
          <a:prstGeom prst="roundRect">
            <a:avLst>
              <a:gd name="adj" fmla="val 3279"/>
            </a:avLst>
          </a:prstGeom>
          <a:solidFill>
            <a:srgbClr val="F3F6FA"/>
          </a:solidFill>
          <a:ln w="63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66160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무엇을 얻을 수 있는가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651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'Book-Core 독서 라이프스타일 플랫폼'으로 포지셔닝 재정립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핵심 자산(중고 선순환+마니아 팬덤)의 온전한 가치 발휘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114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고객 체류시간(Retention) 및 LTV 극대화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0216" y="1572768"/>
            <a:ext cx="2788920" cy="475488"/>
          </a:xfrm>
          <a:prstGeom prst="roundRect">
            <a:avLst>
              <a:gd name="adj" fmla="val 13462"/>
            </a:avLst>
          </a:prstGeom>
          <a:solidFill>
            <a:srgbClr val="2D7B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0216" y="160934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00216" y="2084832"/>
            <a:ext cx="2788920" cy="2852928"/>
          </a:xfrm>
          <a:prstGeom prst="roundRect">
            <a:avLst>
              <a:gd name="adj" fmla="val 3279"/>
            </a:avLst>
          </a:prstGeom>
          <a:solidFill>
            <a:srgbClr val="F3F6FA"/>
          </a:solidFill>
          <a:ln w="6350">
            <a:solidFill>
              <a:srgbClr val="2D7BB6"/>
            </a:solidFill>
            <a:prstDash val="solid"/>
          </a:ln>
          <a:effectLst>
            <a:outerShdw sx="100000" sy="100000" kx="0" ky="0" algn="bl" rotWithShape="0" blurRad="63500" dist="25400" dir="2700000">
              <a:srgbClr val="B0BEC5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64808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</a:rPr>
              <a:t>우리가 시도할 디자인 방향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2651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책과 독자에 집중하는 알라딘만의 브랜드 성격 강화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브랜드 성격을 담은 심볼·색상·서체·그래픽 재해석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4114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· 굿즈와 주요 앱·웹 화면에 적용해 일관된 인상 제안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8873A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3A"/>
                </a:solidFill>
              </a:rPr>
              <a:t>결론 및 다음 단계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알라딘의 가치를, 보이고 느껴지는 경험으로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19072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0B8CC"/>
                </a:solidFill>
              </a:rPr>
              <a:t>가치·시장·수치 분석을 통해, 알라딘의 강점을 더 선명하게 전달할 필요성을 확인했습니다.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0B8CC"/>
                </a:solidFill>
              </a:rPr>
              <a:t>우리는 그 출발점으로 브랜드 성격이 담긴 시각 요소를 재해석하고자 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E887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797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방향: 책과 독자를 돕는 친근함, 발견의 즐거움, 책의 선순환을 시각화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172968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E887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209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095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대상: 요술램프 모티프·심볼, 색상·서체, 아이콘·그래픽의 표현 재검토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602736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E887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6393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적용: 굿즈와 주요 앱·웹 화면에 적용해 브랜드 인상과 정보 위계 개선 제안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3159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3A"/>
                </a:solidFill>
              </a:rPr>
              <a:t>알라딘의 본질은 지키고, 그 가치가 더 쉽고 일관되게 느껴지는 시각 언어를 제안하겠습니다.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A3050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873A"/>
                </a:solidFill>
                <a:latin typeface="NanumGothic"/>
              </a:rPr>
              <a:t>REBRANDING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3050"/>
                </a:solidFill>
                <a:latin typeface="NanumGothic"/>
              </a:rPr>
              <a:t>지켜야, 버려야, 만들어야 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8138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96"/>
                </a:solidFill>
                <a:latin typeface="NanumGothic"/>
              </a:rPr>
              <a:t>분석 결과를 브랜드·경험·시각 언어의 실행 원칙으로 전환합니다.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578608" cy="2633472"/>
          </a:xfrm>
          <a:prstGeom prst="roundRect">
            <a:avLst/>
          </a:prstGeom>
          <a:solidFill>
            <a:srgbClr val="F6F3EE"/>
          </a:solidFill>
          <a:ln>
            <a:solidFill>
              <a:srgbClr val="F6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578608" cy="347472"/>
          </a:xfrm>
          <a:prstGeom prst="roundRect">
            <a:avLst/>
          </a:prstGeom>
          <a:solidFill>
            <a:srgbClr val="1A3050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64792"/>
            <a:ext cx="21945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anumGothic"/>
              </a:rPr>
              <a:t>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2221992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3050"/>
                </a:solidFill>
                <a:latin typeface="NanumGothic"/>
              </a:rPr>
              <a:t>지켜야 할 자산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194560" cy="11155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중고 도서 선순환 체계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전국 오프라인 거점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독자 팬덤과 굿즈 문화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913632"/>
            <a:ext cx="219456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050"/>
                </a:solidFill>
                <a:latin typeface="NanumGothic"/>
              </a:rPr>
              <a:t>강점을 브랜드의 뿌리로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1691640"/>
            <a:ext cx="2578608" cy="2633472"/>
          </a:xfrm>
          <a:prstGeom prst="roundRect">
            <a:avLst/>
          </a:prstGeom>
          <a:solidFill>
            <a:srgbClr val="FFF4EA"/>
          </a:solidFill>
          <a:ln>
            <a:solidFill>
              <a:srgbClr val="FF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4991" y="1691640"/>
            <a:ext cx="2578608" cy="347472"/>
          </a:xfrm>
          <a:prstGeom prst="roundRect">
            <a:avLst/>
          </a:prstGeom>
          <a:solidFill>
            <a:srgbClr val="E8873A"/>
          </a:solidFill>
          <a:ln>
            <a:solidFill>
              <a:srgbClr val="E8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764792"/>
            <a:ext cx="21945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anumGothic"/>
              </a:rP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212848"/>
            <a:ext cx="2221992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3050"/>
                </a:solidFill>
                <a:latin typeface="NanumGothic"/>
              </a:rPr>
              <a:t>걷어낼 경험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670048"/>
            <a:ext cx="2194560" cy="11155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과밀한 텍스트 중심 UI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파편화된 탐색·결제 동선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‘저렴함’에만 머무는 인식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913632"/>
            <a:ext cx="219456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873A"/>
                </a:solidFill>
                <a:latin typeface="NanumGothic"/>
              </a:rPr>
              <a:t>마찰을 줄여 경험의 질을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691640"/>
            <a:ext cx="2578608" cy="2633472"/>
          </a:xfrm>
          <a:prstGeom prst="roundRect">
            <a:avLst/>
          </a:prstGeom>
          <a:solidFill>
            <a:srgbClr val="F6F3EE"/>
          </a:solidFill>
          <a:ln>
            <a:solidFill>
              <a:srgbClr val="F6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7064" y="1691640"/>
            <a:ext cx="2578608" cy="347472"/>
          </a:xfrm>
          <a:prstGeom prst="roundRect">
            <a:avLst/>
          </a:prstGeom>
          <a:solidFill>
            <a:srgbClr val="387C8C"/>
          </a:solidFill>
          <a:ln>
            <a:solidFill>
              <a:srgbClr val="387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1764792"/>
            <a:ext cx="21945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anumGothic"/>
              </a:rPr>
              <a:t>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2212848"/>
            <a:ext cx="2221992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3050"/>
                </a:solidFill>
                <a:latin typeface="NanumGothic"/>
              </a:rPr>
              <a:t>새롭게 만들 경험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5" y="2670048"/>
            <a:ext cx="2194560" cy="11155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직관적인 탐색과 정보 위계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온·오프라인을 잇는 접점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anumGothic"/>
              </a:rPr>
              <a:t>Book-Core 라이프스타일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5" y="3913632"/>
            <a:ext cx="219456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87C8C"/>
                </a:solidFill>
                <a:latin typeface="NanumGothic"/>
              </a:rPr>
              <a:t>자산을 현대적 경험으로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ALADIN REBRANDING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846320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POC CLINIC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A3050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873A"/>
                </a:solidFill>
                <a:latin typeface="NanumGothic"/>
              </a:rPr>
              <a:t>PURPOSE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3050"/>
                </a:solidFill>
                <a:latin typeface="NanumGothic"/>
              </a:rPr>
              <a:t>알라딘은 무엇을 위해 존재하는가?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8138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96"/>
                </a:solidFill>
                <a:latin typeface="NanumGothic"/>
              </a:rPr>
              <a:t>요술램프의 브랜드 약속을 오늘의 독서 경험으로 다시 번역합니다.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3858768" cy="2697480"/>
          </a:xfrm>
          <a:prstGeom prst="roundRect">
            <a:avLst/>
          </a:prstGeom>
          <a:solidFill>
            <a:srgbClr val="1A3050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1828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873A"/>
                </a:solidFill>
                <a:latin typeface="NanumGothic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95728"/>
            <a:ext cx="324612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책을 통해 개인의 취향과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anumGothic"/>
              </a:rPr>
              <a:t>일상에 깊이를 더한다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93008"/>
            <a:ext cx="31546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D7E3"/>
                </a:solidFill>
                <a:latin typeface="NanumGothic"/>
              </a:rPr>
              <a:t>책을 “판매”하는 곳을 넘어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D7E3"/>
                </a:solidFill>
                <a:latin typeface="NanumGothic"/>
              </a:rPr>
              <a:t>독서의 의미와 애착을 키우는 브랜드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9432" y="1664208"/>
            <a:ext cx="4361688" cy="2697480"/>
          </a:xfrm>
          <a:prstGeom prst="roundRect">
            <a:avLst/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938528"/>
            <a:ext cx="1828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873A"/>
                </a:solidFill>
                <a:latin typeface="NanumGothic"/>
              </a:rPr>
              <a:t>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3611880" cy="9326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3050"/>
                </a:solidFill>
                <a:latin typeface="NanumGothic"/>
              </a:rPr>
              <a:t>누구나 가치 있는 책을 쉽게 발견하고,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3050"/>
                </a:solidFill>
                <a:latin typeface="NanumGothic"/>
              </a:rPr>
              <a:t>소장하며, 순환시킬 수 있도록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3050"/>
                </a:solidFill>
                <a:latin typeface="NanumGothic"/>
              </a:rPr>
              <a:t>유통의 장벽을 허물고 연결한다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602736"/>
            <a:ext cx="34747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96"/>
                </a:solidFill>
                <a:latin typeface="NanumGothic"/>
              </a:rPr>
              <a:t>브랜드 약속 → 발견 · 소장 · 순환의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96"/>
                </a:solidFill>
                <a:latin typeface="NanumGothic"/>
              </a:rPr>
              <a:t>하나의 자연스러운 경험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53712"/>
            <a:ext cx="7955279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873A"/>
                </a:solidFill>
                <a:latin typeface="NanumGothic"/>
              </a:rPr>
              <a:t>핵심 전환  |  “중고책 거래”가 아닌 “독서 취향의 순환”을 경험하게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ALADIN REBRANDING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846320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POC CLINIC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A3050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873A"/>
                </a:solidFill>
                <a:latin typeface="NanumGothic"/>
              </a:rPr>
              <a:t>BRAND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3050"/>
                </a:solidFill>
                <a:latin typeface="NanumGothic"/>
              </a:rPr>
              <a:t>브랜드 성격을 시각 언어로 바꾸는 3가지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8138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96"/>
                </a:solidFill>
                <a:latin typeface="NanumGothic"/>
              </a:rPr>
              <a:t>전략의 문장을 실제 화면·그래픽·굿즈에서 작동하는 표현 규칙으로 만듭니다.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57860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578608" cy="54864"/>
          </a:xfrm>
          <a:prstGeom prst="rect">
            <a:avLst/>
          </a:prstGeom>
          <a:solidFill>
            <a:srgbClr val="E8873A"/>
          </a:solidFill>
          <a:ln>
            <a:solidFill>
              <a:srgbClr val="E8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320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873A"/>
                </a:solidFill>
                <a:latin typeface="Nanum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212140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050"/>
                </a:solidFill>
                <a:latin typeface="NanumGothic"/>
              </a:rPr>
              <a:t>CIRCULATION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121408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3050"/>
                </a:solidFill>
                <a:latin typeface="NanumGothic"/>
              </a:rPr>
              <a:t>순환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2084831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책의 발견–구매–소장–재판매를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하나의 흐름으로 보여준다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3822191"/>
            <a:ext cx="2221992" cy="274320"/>
          </a:xfrm>
          <a:prstGeom prst="roundRect">
            <a:avLst/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86200"/>
            <a:ext cx="201168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87C8C"/>
                </a:solidFill>
                <a:latin typeface="NanumGothic"/>
              </a:rPr>
              <a:t>흐름을 잇는 연결선·순환 모티프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1" y="1691640"/>
            <a:ext cx="257860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1" y="1691640"/>
            <a:ext cx="2578608" cy="54864"/>
          </a:xfrm>
          <a:prstGeom prst="rect">
            <a:avLst/>
          </a:prstGeom>
          <a:solidFill>
            <a:srgbClr val="E8873A"/>
          </a:solidFill>
          <a:ln>
            <a:solidFill>
              <a:srgbClr val="E8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938528"/>
            <a:ext cx="320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873A"/>
                </a:solidFill>
                <a:latin typeface="Nanum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267712"/>
            <a:ext cx="212140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050"/>
                </a:solidFill>
                <a:latin typeface="NanumGothic"/>
              </a:rPr>
              <a:t>INTUITION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560320"/>
            <a:ext cx="2121408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3050"/>
                </a:solidFill>
                <a:latin typeface="NanumGothic"/>
              </a:rPr>
              <a:t>직관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063240"/>
            <a:ext cx="2084831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복잡한 정보를 걷어내고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핵심 선택이 먼저 보이게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9584" y="3822191"/>
            <a:ext cx="2221992" cy="274320"/>
          </a:xfrm>
          <a:prstGeom prst="roundRect">
            <a:avLst/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3886200"/>
            <a:ext cx="201168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87C8C"/>
                </a:solidFill>
                <a:latin typeface="NanumGothic"/>
              </a:rPr>
              <a:t>명확한 정보 위계·CTA·여백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1691640"/>
            <a:ext cx="257860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1691640"/>
            <a:ext cx="2578608" cy="54864"/>
          </a:xfrm>
          <a:prstGeom prst="rect">
            <a:avLst/>
          </a:prstGeom>
          <a:solidFill>
            <a:srgbClr val="E8873A"/>
          </a:solidFill>
          <a:ln>
            <a:solidFill>
              <a:srgbClr val="E8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1938528"/>
            <a:ext cx="320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873A"/>
                </a:solidFill>
                <a:latin typeface="NanumGothi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267712"/>
            <a:ext cx="2121408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050"/>
                </a:solidFill>
                <a:latin typeface="NanumGothic"/>
              </a:rPr>
              <a:t>FANDOM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560320"/>
            <a:ext cx="2121408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3050"/>
                </a:solidFill>
                <a:latin typeface="NanumGothic"/>
              </a:rPr>
              <a:t>팬덤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063240"/>
            <a:ext cx="2084831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독서 취향의 애착과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소장하는 즐거움을 드러낸다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91655" y="3822191"/>
            <a:ext cx="2221992" cy="274320"/>
          </a:xfrm>
          <a:prstGeom prst="roundRect">
            <a:avLst/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886200"/>
            <a:ext cx="201168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87C8C"/>
                </a:solidFill>
                <a:latin typeface="NanumGothic"/>
              </a:rPr>
              <a:t>따뜻한 컬러·컬렉션형 그래픽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46320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ALADIN REBRANDING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846320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POC CLINIC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A3050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8873A"/>
                </a:solidFill>
                <a:latin typeface="NanumGothic"/>
              </a:rPr>
              <a:t>DESIGN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3050"/>
                </a:solidFill>
                <a:latin typeface="NanumGothic"/>
              </a:rPr>
              <a:t>우리가 실제로 건드려볼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8138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18096"/>
                </a:solidFill>
                <a:latin typeface="NanumGothic"/>
              </a:rPr>
              <a:t>브랜드의 성격을 단순 로고 변경이 아닌, 일관된 접점 경험으로 확장합니다.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2359152" cy="1554480"/>
          </a:xfrm>
          <a:prstGeom prst="roundRect">
            <a:avLst/>
          </a:prstGeom>
          <a:solidFill>
            <a:srgbClr val="F6F3EE"/>
          </a:solidFill>
          <a:ln>
            <a:solidFill>
              <a:srgbClr val="F6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31089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8873A"/>
                </a:solidFill>
                <a:latin typeface="Nanum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874519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050"/>
                </a:solidFill>
                <a:latin typeface="NanumGothic"/>
              </a:rPr>
              <a:t>BRAND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901952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요술램프 모티프·심볼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색상·서체·아이콘 재해석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468880"/>
            <a:ext cx="256032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873A"/>
                </a:solidFill>
                <a:latin typeface="Nanum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74519"/>
            <a:ext cx="2359152" cy="1554480"/>
          </a:xfrm>
          <a:prstGeom prst="roundRect">
            <a:avLst/>
          </a:prstGeom>
          <a:solidFill>
            <a:srgbClr val="F6F3EE"/>
          </a:solidFill>
          <a:ln>
            <a:solidFill>
              <a:srgbClr val="F6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075688"/>
            <a:ext cx="31089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8873A"/>
                </a:solidFill>
                <a:latin typeface="Nanum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487168"/>
            <a:ext cx="1874519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050"/>
                </a:solidFill>
                <a:latin typeface="NanumGothic"/>
              </a:rPr>
              <a:t>DIGITAL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788920"/>
            <a:ext cx="1901952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새책·중고·매장 탐색의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정보 위계와 CTA 재설계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468880"/>
            <a:ext cx="256032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873A"/>
                </a:solidFill>
                <a:latin typeface="Nanum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1874519"/>
            <a:ext cx="2359152" cy="1554480"/>
          </a:xfrm>
          <a:prstGeom prst="roundRect">
            <a:avLst/>
          </a:prstGeom>
          <a:solidFill>
            <a:srgbClr val="F6F3EE"/>
          </a:solidFill>
          <a:ln>
            <a:solidFill>
              <a:srgbClr val="F6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3" y="2075688"/>
            <a:ext cx="310896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8873A"/>
                </a:solidFill>
                <a:latin typeface="Nanum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2487168"/>
            <a:ext cx="1874519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050"/>
                </a:solidFill>
                <a:latin typeface="NanumGothic"/>
              </a:rPr>
              <a:t>PHYSICAL &amp;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788920"/>
            <a:ext cx="1901952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굿즈·매장 안내·캠페인에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anumGothic"/>
              </a:rPr>
              <a:t>일관된 브랜드 표현 적용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04487"/>
            <a:ext cx="7699248" cy="502920"/>
          </a:xfrm>
          <a:prstGeom prst="roundRect">
            <a:avLst/>
          </a:prstGeom>
          <a:solidFill>
            <a:srgbClr val="1A3050"/>
          </a:solidFill>
          <a:ln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41648"/>
            <a:ext cx="7242048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anumGothic"/>
              </a:rPr>
              <a:t>기대 변화  |  알라딘의 독보적 자산이 “알아보기 쉬운 경험”과 “기억되는 인상”으로 연결된다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4572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ALADIN REBRANDING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846320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718096"/>
                </a:solidFill>
                <a:latin typeface="NanumGothic"/>
              </a:rPr>
              <a:t>POC CLINIC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2026-09-11T10:03:17Z</dcterms:created>
  <dcterms:modified xsi:type="dcterms:W3CDTF">2026-09-11T10:03:17Z</dcterms:modified>
</cp:coreProperties>
</file>